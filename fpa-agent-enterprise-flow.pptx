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40dad57f7e4fc9" /><Relationship Type="http://schemas.openxmlformats.org/officeDocument/2006/relationships/extended-properties" Target="/docProps/app.xml" Id="Rb9ad6fde1c474d73" /><Relationship Type="http://schemas.openxmlformats.org/officeDocument/2006/relationships/officeDocument" Target="/ppt/presentation.xml" Id="Rb323c073cdf543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df04bdf635405f"/>
  </p:sldMasterIdLst>
  <p:notesMasterIdLst>
    <p:notesMasterId xmlns:r="http://schemas.openxmlformats.org/officeDocument/2006/relationships" r:id="R9a72655ee6b64202"/>
  </p:notesMasterIdLst>
  <p:sldIdLst>
    <p:sldId xmlns:r="http://schemas.openxmlformats.org/officeDocument/2006/relationships" id="256" r:id="R5fea6ee317b94956"/>
    <p:sldId xmlns:r="http://schemas.openxmlformats.org/officeDocument/2006/relationships" id="257" r:id="R66261ebd8226480c"/>
    <p:sldId xmlns:r="http://schemas.openxmlformats.org/officeDocument/2006/relationships" id="258" r:id="R0b8f9f63176947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87bda16ced4bb8" /><Relationship Type="http://schemas.openxmlformats.org/officeDocument/2006/relationships/slideMaster" Target="/ppt/slideMasters/slideMaster1.xml" Id="Rfedf04bdf635405f" /><Relationship Type="http://schemas.openxmlformats.org/officeDocument/2006/relationships/notesMaster" Target="/ppt/notesMasters/notesMaster1.xml" Id="R9a72655ee6b64202" /><Relationship Type="http://schemas.openxmlformats.org/officeDocument/2006/relationships/presProps" Target="/ppt/presProps.xml" Id="Rf37c02ac21d04e3a" /><Relationship Type="http://schemas.openxmlformats.org/officeDocument/2006/relationships/viewProps" Target="/ppt/viewProps.xml" Id="R66af426b8a36488c" /><Relationship Type="http://schemas.openxmlformats.org/officeDocument/2006/relationships/tableStyles" Target="/ppt/tableStyles.xml" Id="R1ecd6726425d46e7" /><Relationship Type="http://schemas.openxmlformats.org/officeDocument/2006/relationships/slide" Target="/ppt/slides/slide1.xml" Id="R5fea6ee317b94956" /><Relationship Type="http://schemas.openxmlformats.org/officeDocument/2006/relationships/slide" Target="/ppt/slides/slide2.xml" Id="R66261ebd8226480c" /><Relationship Type="http://schemas.openxmlformats.org/officeDocument/2006/relationships/slide" Target="/ppt/slides/slide3.xml" Id="R0b8f9f63176947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d28dcf079f42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1ea0e9fa38464f" /><Relationship Type="http://schemas.openxmlformats.org/officeDocument/2006/relationships/notesMaster" Target="/ppt/notesMasters/notesMaster1.xml" Id="Ra3e0c39c52b147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ec486c26a54947" /><Relationship Type="http://schemas.openxmlformats.org/officeDocument/2006/relationships/notesMaster" Target="/ppt/notesMasters/notesMaster1.xml" Id="R64652685de244e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52a23868ea4fd8" /><Relationship Type="http://schemas.openxmlformats.org/officeDocument/2006/relationships/notesMaster" Target="/ppt/notesMasters/notesMaster1.xml" Id="R873f1f69f2c348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/>
              <a:t>Enterprise systems provide the facts: CRM for pipeline/bookings, ERP/GL for actuals, Workday for workforce, revenue systems for recognition, Snowflake as the data hub, and Anaplan for plan/forecast.</a:t>
            </a:r>
          </a:p>
          <a:p xmlns:a="http://schemas.openxmlformats.org/drawingml/2006/main">
            <a:r>
              <a:rPr sz="1200" b="0" i="0"/>
              <a:t>Finance creates certified snapshots and reference data: SOQ/EOQ snapshots, actuals, plan, forecast, hierarchy mappings, and the governed variance taxonomy.</a:t>
            </a:r>
          </a:p>
          <a:p xmlns:a="http://schemas.openxmlformats.org/drawingml/2006/main">
            <a:r>
              <a:rPr sz="1200" b="0" i="0"/>
              <a:t>A deterministic variance engine calculates the bridge: it compares actuals to baseline, classifies drivers, ties every explanation to source evidence, and keeps residuals visible.</a:t>
            </a:r>
          </a:p>
          <a:p xmlns:a="http://schemas.openxmlformats.org/drawingml/2006/main">
            <a:r>
              <a:rPr sz="1200" b="0" i="0"/>
              <a:t>Step 3 outputs a certified analysis packet into the LLM. The LLM agent then explains that packet. </a:t>
            </a:r>
            <a:r>
              <a:rPr sz="1200" b="0" i="0"/>
              <a:t>SKILL.md</a:t>
            </a:r>
            <a:r>
              <a:rPr sz="1200" b="0" i="0"/>
              <a:t> is the operating manual that tells the LLM how to write the variance narrative, use the taxonomy, avoid unsupported claims, and return structured output.</a:t>
            </a:r>
          </a:p>
          <a:p xmlns:a="http://schemas.openxmlformats.org/drawingml/2006/main">
            <a:r>
              <a:rPr sz="1200" b="0" i="0"/>
              <a:t>FP&amp;A remains human in the loop: analysts review the evidence, edit the narrative, approve the final output, and feed misses into evals.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/>
              <a:t>Use slide 2 to explain the upstream data architecture:</a:t>
            </a:r>
          </a:p>
          <a:p xmlns:a="http://schemas.openxmlformats.org/drawingml/2006/main">
            <a:r>
              <a:rPr sz="1200" b="0" i="0"/>
              <a:t>Most enterprise data should flow through Snowflake as the governed access layer.</a:t>
            </a:r>
          </a:p>
          <a:p xmlns:a="http://schemas.openxmlformats.org/drawingml/2006/main">
            <a:r>
              <a:rPr sz="1200" b="0" i="0"/>
              <a:t>Source-system tables land in raw/conformed Snowflake tables.</a:t>
            </a:r>
          </a:p>
          <a:p xmlns:a="http://schemas.openxmlformats.org/drawingml/2006/main">
            <a:r>
              <a:rPr sz="1200" b="0" i="0"/>
              <a:t>Data engineers publish finance-ready views for snapshots, actuals, planning baselines, mappings, and taxonomy.</a:t>
            </a:r>
          </a:p>
          <a:p xmlns:a="http://schemas.openxmlformats.org/drawingml/2006/main">
            <a:r>
              <a:rPr sz="1200" b="0" i="0"/>
              <a:t>Direct source queries are exception paths for drill-downs or missing evidence, not the default workflow.</a:t>
            </a:r>
          </a:p>
          <a:p xmlns:a="http://schemas.openxmlformats.org/drawingml/2006/main">
            <a:r>
              <a:rPr sz="1200" b="0" i="0"/>
              <a:t>Snowflake is not the original system of record; it is where source data becomes certified and reusable for FP&amp;A analysis.</a:t>
            </a:r>
          </a:p>
          <a:p xmlns:a="http://schemas.openxmlformats.org/drawingml/2006/main">
            <a:r>
              <a:rPr sz="1200" b="0" i="0"/>
              <a:t>The one-line interview framing:</a:t>
            </a:r>
          </a:p>
          <a:p xmlns:a="http://schemas.openxmlformats.org/drawingml/2006/main">
            <a:r>
              <a:rPr sz="1200" b="0" i="0"/>
              <a:t>The LLM is not discovering financial truth. The enterprise finance layer creates certified, reconciling variance facts; the agent turns those facts into an executive-ready explanation with FP&amp;A approval and evals as controls.</a:t>
            </a:r>
          </a:p>
          <a:p xmlns:a="http://schemas.openxmlformats.org/drawingml/2006/main">
            <a:r>
              <a:rPr sz="1200" b="0" i="0"/>
              <a:t>For evals, the agent output should be structured JSON plus the written summary. It should be compared against an FP&amp;A ground truth file for math reconciliation, driver classification, evidence quality, and narrative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0d43da13d84e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d942e8bc6b46d2" /><Relationship Type="http://schemas.openxmlformats.org/officeDocument/2006/relationships/slideLayout" Target="/ppt/slideLayouts/slideLayout1.xml" Id="R10c3b6869bbb41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c3b6869bbb41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d6d66b1534873" /><Relationship Type="http://schemas.openxmlformats.org/officeDocument/2006/relationships/notesSlide" Target="/ppt/notesSlides/notesSlide1.xml" Id="Ra1e58b98adf847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be55207c64c02" /><Relationship Type="http://schemas.openxmlformats.org/officeDocument/2006/relationships/notesSlide" Target="/ppt/notesSlides/notesSlide2.xml" Id="R1fa00895f01347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2a5e5ccce4332" /><Relationship Type="http://schemas.openxmlformats.org/officeDocument/2006/relationships/notesSlide" Target="/ppt/notesSlides/notesSlide3.xml" Id="Rb0f37db2e09b45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D01DCA31-B7CD-438E-BE66-7245DF94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90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Target-state FP&amp;A Review Agent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C653A7B-8F79-4CE2-894B-9C86F0CA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800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PM view: certified finance data creates the variance truth; the LLM turns it into a review-ready narrative; FP&amp;A stays in control.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FB27D45-9908-4DA1-98B2-C0029A58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9100"/>
            <a:ext cx="1771650" cy="400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12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B9F0444-BC17-41F5-AB30-CF16BAD1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23875"/>
            <a:ext cx="1219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Interview story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68498F5-1E2A-49B8-BB61-257DA918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91440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LLM is the narrator, not the calculator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385268A-5C6A-4926-A22D-BC0463C0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0" cy="2019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2E6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D4CDE3BA-40D6-456A-BE9A-26B43E1D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D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0ECD69E-ABAF-4313-BE04-2B7EA18D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9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1EAAFF5-9048-40F3-A9E4-1ED45B64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19300"/>
            <a:ext cx="106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2166D1"/>
                </a:solidFill>
                <a:latin typeface="Arial"/>
                <a:ea typeface="Arial"/>
                <a:cs typeface="Arial"/>
              </a:defRPr>
            </a:pPr>
            <a:r>
              <a:t>SYSTEMS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C88D5B5-B4E2-45A8-835D-E7FEF88A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37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Collect source data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82C4F70-32C9-4C36-BF98-DB39FFFB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371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CRM, ERP/GL, Workday, revenue subledger, Snowflake, Anaplan</a:t>
            </a:r>
          </a:p>
        </p:txBody>
      </p:sp>
      <p:sp>
        <p:nvSpPr>
          <p:cNvPr id="12" name="Right Arrow 11">
            <a:extLst xmlns:a="http://schemas.openxmlformats.org/drawingml/2006/main">
              <a:ext uri="{FF2B5EF4-FFF2-40B4-BE49-F238E27FC236}">
                <a16:creationId xmlns:a16="http://schemas.microsoft.com/office/drawing/2014/main" id="{CAA7B0B0-5BD0-41AD-8CD4-E868D09D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09850"/>
            <a:ext cx="495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CE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54924CC-70E3-4C28-A662-58E1F1FD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1714500" cy="2019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E2E6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0D150A3D-859B-407F-8D83-91992FDA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19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8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8634A39-F8BE-4FF3-88DF-2FAD8753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76450"/>
            <a:ext cx="19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AE96CB7-7FCE-4EDD-818F-73649A63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19300"/>
            <a:ext cx="106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18785B"/>
                </a:solidFill>
                <a:latin typeface="Arial"/>
                <a:ea typeface="Arial"/>
                <a:cs typeface="Arial"/>
              </a:defRPr>
            </a:pPr>
            <a:r>
              <a:t>FINANCE LAYER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95CFEDB-96D9-423C-84AF-A4E3E70F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76500"/>
            <a:ext cx="137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Create certified snapshots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E3FB5A9-83A3-49D2-A342-534FD94C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23880"/>
            <a:ext cx="1371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SOQ/EOQ, plan, forecast, actuals, hierarchy, taxonomy</a:t>
            </a:r>
          </a:p>
        </p:txBody>
      </p:sp>
      <p:sp>
        <p:nvSpPr>
          <p:cNvPr id="19" name="Right Arrow 18">
            <a:extLst xmlns:a="http://schemas.openxmlformats.org/drawingml/2006/main">
              <a:ext uri="{FF2B5EF4-FFF2-40B4-BE49-F238E27FC236}">
                <a16:creationId xmlns:a16="http://schemas.microsoft.com/office/drawing/2014/main" id="{E4CC73EF-7333-4882-A7F2-D0D6E938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495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CE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09DF193-CD0B-40CB-B15B-BFD613B7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09750"/>
            <a:ext cx="1714500" cy="2019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E2E6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65A57174-CA3B-4A04-BC6A-94A9DC91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19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51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AF3052F-CB69-4A69-BAD6-030F4831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76450"/>
            <a:ext cx="19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3BB2E64-8093-4CD0-90A8-0A9938EE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19300"/>
            <a:ext cx="106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87514"/>
                </a:solidFill>
                <a:latin typeface="Arial"/>
                <a:ea typeface="Arial"/>
                <a:cs typeface="Arial"/>
              </a:defRPr>
            </a:pPr>
            <a:r>
              <a:t>VARIANCE ENGINE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F93719B-019F-42A1-BE5D-7491077F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137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Calculate and classify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1C2ECFF-1393-44F5-AABB-6528F956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86100"/>
            <a:ext cx="1371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Driver math, source evidence, reconciliation, residuals</a:t>
            </a:r>
          </a:p>
        </p:txBody>
      </p:sp>
      <p:sp>
        <p:nvSpPr>
          <p:cNvPr id="26" name="Right Arrow 25">
            <a:extLst xmlns:a="http://schemas.openxmlformats.org/drawingml/2006/main">
              <a:ext uri="{FF2B5EF4-FFF2-40B4-BE49-F238E27FC236}">
                <a16:creationId xmlns:a16="http://schemas.microsoft.com/office/drawing/2014/main" id="{D8340D26-4D53-4143-A0A0-2C2A2B53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09850"/>
            <a:ext cx="495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CE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1B40AAEB-06A1-4161-8953-771BB88E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14500" cy="2019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A47F2D11-8780-46FA-9920-E7A50614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19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12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829D0F5-EF39-4BE2-A5B5-F1590E6C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76450"/>
            <a:ext cx="19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25A2A4E-207D-4EFB-B507-725775A3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19300"/>
            <a:ext cx="106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LLM AGENT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D1B37170-E5D6-4AEE-8887-B2001BDE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76500"/>
            <a:ext cx="137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Explain the variance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EEB662A-E5C5-41CE-B3CF-30774B3B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86100"/>
            <a:ext cx="1371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Uses SKILL.md as operating manual and taxonomy as reference</a:t>
            </a:r>
          </a:p>
        </p:txBody>
      </p:sp>
      <p:sp>
        <p:nvSpPr>
          <p:cNvPr id="33" name="Right Arrow 32">
            <a:extLst xmlns:a="http://schemas.openxmlformats.org/drawingml/2006/main">
              <a:ext uri="{FF2B5EF4-FFF2-40B4-BE49-F238E27FC236}">
                <a16:creationId xmlns:a16="http://schemas.microsoft.com/office/drawing/2014/main" id="{AACF305F-7A9C-432A-B505-FED1F7CC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09850"/>
            <a:ext cx="495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CE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44FBFDE-E484-477A-8C0A-9C992DC0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1714500" cy="2019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E9EE"/>
          </a:solidFill>
          <a:ln xmlns:a="http://schemas.openxmlformats.org/drawingml/2006/main" w="9525">
            <a:solidFill>
              <a:srgbClr val="E2E6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CE718EF1-AE0D-4AD6-A5E0-1C6DA405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19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A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F7B269F5-B38A-4100-874A-9FC8066E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76450"/>
            <a:ext cx="19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83C60B64-4EB9-434C-A63F-476C922D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019300"/>
            <a:ext cx="106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84A5B"/>
                </a:solidFill>
                <a:latin typeface="Arial"/>
                <a:ea typeface="Arial"/>
                <a:cs typeface="Arial"/>
              </a:defRPr>
            </a:pPr>
            <a:r>
              <a:t>Human in the loop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DC193165-B79B-4BAA-AD10-D233EC59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137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Review and approve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125BC597-7079-4F82-BC95-A3AC8FE3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86100"/>
            <a:ext cx="1371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FP&amp;A edits narrative, confirms evidence, approves the pack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85B90DCA-619F-4543-AE52-95EB43AA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2667000" cy="1162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4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9E1A31D7-22EB-4AAE-980A-9A2D5BAA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2324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Governed taxonomy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A6802C69-DC30-43DE-AE3C-0D4534A8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2266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Driver classes live as governed reference data, not only inside the prompt.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D8DA8D82-F8B2-408F-953A-778C6043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Up Arrow 43">
            <a:extLst xmlns:a="http://schemas.openxmlformats.org/drawingml/2006/main">
              <a:ext uri="{FF2B5EF4-FFF2-40B4-BE49-F238E27FC236}">
                <a16:creationId xmlns:a16="http://schemas.microsoft.com/office/drawing/2014/main" id="{B4746F8D-7B84-403E-83D7-72DEE19B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38600"/>
            <a:ext cx="285750" cy="5143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FE7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20F57331-FE74-4E64-9600-A824E76B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48200"/>
            <a:ext cx="28575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4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6FCAFEC0-A587-4F7A-B584-3B6A437B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00600"/>
            <a:ext cx="2514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Certified packet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0E198347-4876-405B-8C1A-73F7FB86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67300"/>
            <a:ext cx="2457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Reconciled drivers, source evidence, confidence, residuals, and open questions.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CADF99B5-8151-46AD-90AD-A70B4E3C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196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51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Up Arrow 48">
            <a:extLst xmlns:a="http://schemas.openxmlformats.org/drawingml/2006/main">
              <a:ext uri="{FF2B5EF4-FFF2-40B4-BE49-F238E27FC236}">
                <a16:creationId xmlns:a16="http://schemas.microsoft.com/office/drawing/2014/main" id="{C262DB3E-A4D2-467E-815A-C1E3C3C7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38600"/>
            <a:ext cx="285750" cy="5143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7DCA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1E15B82C-DAF0-4EA0-9DA3-53156D18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48200"/>
            <a:ext cx="2895600" cy="107156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4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78BF3284-B30B-4781-90F6-72847940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00600"/>
            <a:ext cx="2552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Agent output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EB7292FE-9D06-4E45-9857-4D49A76D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67300"/>
            <a:ext cx="2495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Executive summary, structured JSON, driver table, actions, and evidence citations.</a:t>
            </a: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4BB1EE2B-2F11-4D64-8669-4DD7F813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196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Right Arrow 53">
            <a:extLst xmlns:a="http://schemas.openxmlformats.org/drawingml/2006/main">
              <a:ext uri="{FF2B5EF4-FFF2-40B4-BE49-F238E27FC236}">
                <a16:creationId xmlns:a16="http://schemas.microsoft.com/office/drawing/2014/main" id="{B46E069E-E325-4CBF-8FF2-8F828CFD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24300"/>
            <a:ext cx="5524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CE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EC1FEF63-31E1-438B-8D47-AEC8ABB9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1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Rectangle 55">
            <a:extLst xmlns:a="http://schemas.openxmlformats.org/drawingml/2006/main">
              <a:ext uri="{FF2B5EF4-FFF2-40B4-BE49-F238E27FC236}">
                <a16:creationId xmlns:a16="http://schemas.microsoft.com/office/drawing/2014/main" id="{C85C4A16-05B9-4B1C-BE4C-5BC06812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Core principle: the enterprise system produces certified, reconciling variance facts before the LLM writes the story.</a:t>
            </a:r>
          </a:p>
        </p:txBody>
      </p:sp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30A9E307-669C-4118-90A2-6D4D4D80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3055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Human approval and evals prevent polished-but-wrong narratives from reaching leadership.</a:t>
            </a:r>
          </a:p>
        </p:txBody>
      </p:sp>
    </p:spTree>
    <p:extLst>
      <p:ext uri="{BB962C8B-B14F-4D97-AF65-F5344CB8AC3E}">
        <p14:creationId xmlns:p14="http://schemas.microsoft.com/office/powerpoint/2010/main" val="247865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3CA12E48-6F80-4D70-A960-067FFED5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Upstream data flow for certified FP&amp;A snapshots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B9394E-1DD9-4D54-9854-FFF5D299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981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The enterprise pattern is: source systems feed Snowflake; data engineers publish governed finance views; the variance engine reads certified snapshots. Direct source queries are exception paths for drill-downs.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68D9E06-8F0D-4E2E-A357-461DB591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Source systems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1C721A7-96B6-4065-AAB6-8BE3F2E4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525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Data platform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90C2336-C01F-43AE-85E7-AFA6E1DD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5255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Certified FP&amp;A artifacts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17C30F8-04AC-43C7-9F8C-42F5F512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866900" cy="609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4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C52EDBC-8EF0-4791-A889-BFF73C84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Salesforce / CRM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D323477-AA91-4289-B488-4581594C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581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63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opps, owners, close dates, stages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A259455-E821-4FDA-9DDB-F9DA4785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D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A974524-9232-48C2-9C8F-D940EB66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866900" cy="609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4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8B08BFC-6041-4A1A-AAA2-82B18EAD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ERP / GL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F1DA9DB-0631-4D14-88ED-05A023BB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581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63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actuals, journals, vendors, payroll postings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49F718E-FDC1-4C7B-A7AE-63C839AD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A2F63A9-D668-4E2F-BFD5-6EB80767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1866900" cy="609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4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17DF1AA-74D4-4CD6-BDAB-1B4DAC30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Anaplan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FD94385-EFF2-4483-BFFE-A696D93A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1581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63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plan, forecast, latest estimate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C32D66A-43C1-49B1-82E2-EBC4796E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51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8C92990-3135-42D4-B7E4-04257C88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866900" cy="609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4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1125883-FDD5-4DF5-A3AF-5858F7C5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Workday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7CCE3B7-CCC9-4EF4-B415-0F3BCA08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1581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63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headcount, comp, workforce dimensions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C13F952-373B-4ACA-B117-C377210F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66E0C2B-B6D1-47CF-B705-BD6ABA73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866900" cy="609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4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B318227-001F-4FBE-840F-C7D62BB5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Rev rec / billing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D6C3F37-55D8-4265-9C52-9747A6AC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581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63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recognition schedules, usage, credits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EA3E97F-DEDD-4D9C-A502-0B3DCE5E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ight Arrow 25">
            <a:extLst xmlns:a="http://schemas.openxmlformats.org/drawingml/2006/main">
              <a:ext uri="{FF2B5EF4-FFF2-40B4-BE49-F238E27FC236}">
                <a16:creationId xmlns:a16="http://schemas.microsoft.com/office/drawing/2014/main" id="{8B582E49-3B69-4CFD-B1A0-002FAAF6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90850"/>
            <a:ext cx="6477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CE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D475682D-8F1F-4B93-8283-9C3722D6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14500"/>
            <a:ext cx="2381250" cy="1295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8DE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4ADECF3-6A4F-459D-97DA-CC365219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66900"/>
            <a:ext cx="2038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Snowflake ingestion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CA28948-CF79-4ECA-A3FD-D473C36D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0383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9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Raw and conformed tables maintained from CRM, ERP, Workday, revenue systems, and planning exports/API feeds.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8291BA7E-929A-4C9D-AABA-7D3E2C8B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38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F6C92CED-9D2B-45A0-B997-5E8EF88B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90900"/>
            <a:ext cx="2381250" cy="1447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D8DE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046D3BF-AC33-4189-98F5-760CA8F1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43300"/>
            <a:ext cx="2038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Data-engineered finance views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FA78BA39-7D04-4435-8230-912A6237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1464" y="3955312"/>
            <a:ext cx="20383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9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Governed SQL views apply close calendar, BU mappings, GL hierarchy, opportunity snapshot logic, and data-quality checks.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9C18F68F-EA1A-4477-96AD-C6FA757B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48200"/>
            <a:ext cx="2038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Down Arrow 34">
            <a:extLst xmlns:a="http://schemas.openxmlformats.org/drawingml/2006/main">
              <a:ext uri="{FF2B5EF4-FFF2-40B4-BE49-F238E27FC236}">
                <a16:creationId xmlns:a16="http://schemas.microsoft.com/office/drawing/2014/main" id="{6F02D196-32CB-4963-9574-A698FA6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48000"/>
            <a:ext cx="36195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5DCE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Right Arrow 35">
            <a:extLst xmlns:a="http://schemas.openxmlformats.org/drawingml/2006/main">
              <a:ext uri="{FF2B5EF4-FFF2-40B4-BE49-F238E27FC236}">
                <a16:creationId xmlns:a16="http://schemas.microsoft.com/office/drawing/2014/main" id="{9690E5EE-27B7-40BB-9BEE-40276419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90850"/>
            <a:ext cx="6858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CE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457CDC8-411A-4BBA-8345-47EE3761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38299"/>
            <a:ext cx="2247900" cy="11715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DE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51EF4F78-9737-42E1-9439-AA4B722E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9070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SOQ / EOQ snapshots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92625B1D-E01F-4922-B17A-0AB57E44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95500"/>
            <a:ext cx="1905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9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Opportunity snapshots for bookings movement: slipped deals, closed-lost, amount changes, new in-quarter deals.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5C85DB44-4BD0-4809-8271-9C50214E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713517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D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B9799791-915A-490D-969D-77B08A9B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38450"/>
            <a:ext cx="2247900" cy="111686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D8DE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1770720F-4489-46E9-834F-2162528D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9085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Actuals + planning baselines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4A4EFD66-3B7B-4A71-915A-B1A5939B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390900"/>
            <a:ext cx="1905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9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ERP actuals matched to Anaplan plan, forecast, prior forecast, or latest-estimate versions.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D275B984-29B8-4811-A74F-CDB62014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862387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51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5C380A40-52E9-4763-8EE4-255C624C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38600"/>
            <a:ext cx="2381250" cy="1257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DC0ABA8D-C6A3-40A2-B89D-2E3D5C90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91000"/>
            <a:ext cx="2076450" cy="1834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Governed reference data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BB10C770-4027-42FA-B0F7-2B3A43D6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95800"/>
            <a:ext cx="1905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9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Variance taxonomy, GL hierarchy, BU/product mappings, owner/vendor mappings, materiality thresholds.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38581DEF-2920-47A7-A4BE-9E6163B3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153025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Right Arrow 48">
            <a:extLst xmlns:a="http://schemas.openxmlformats.org/drawingml/2006/main">
              <a:ext uri="{FF2B5EF4-FFF2-40B4-BE49-F238E27FC236}">
                <a16:creationId xmlns:a16="http://schemas.microsoft.com/office/drawing/2014/main" id="{7F8D452A-E205-49DF-B10C-8FCEF7D3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48000"/>
            <a:ext cx="5334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CE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0132EDE6-75EE-424A-BD59-D8F26047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299" y="2381250"/>
            <a:ext cx="1803105" cy="1638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E9EE"/>
          </a:solidFill>
          <a:ln xmlns:a="http://schemas.openxmlformats.org/drawingml/2006/main" w="9525">
            <a:solidFill>
              <a:srgbClr val="D8DE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C79BF34F-D12E-480A-8F0D-83BFE512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33650"/>
            <a:ext cx="137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Variance engine input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2F93AECA-4AAA-42DC-ACF5-491D4912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21849"/>
            <a:ext cx="13716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9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Certified snapshot package: control totals, driver candidates, source row evidence, taxonomy, and freshness metadata.</a:t>
            </a: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0E1FEA07-730C-4E56-9DA6-1AE58B77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54524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B4361624-0875-4E70-B7E4-0E58B8EE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995" y="5543550"/>
            <a:ext cx="9016409" cy="552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3CC33EEE-17FE-439F-ACF0-6E5C412B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734050"/>
            <a:ext cx="278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Exception path: direct source query</a:t>
            </a:r>
          </a:p>
        </p:txBody>
      </p:sp>
      <p:sp>
        <p:nvSpPr>
          <p:cNvPr id="56" name="Rectangle 55">
            <a:extLst xmlns:a="http://schemas.openxmlformats.org/drawingml/2006/main">
              <a:ext uri="{FF2B5EF4-FFF2-40B4-BE49-F238E27FC236}">
                <a16:creationId xmlns:a16="http://schemas.microsoft.com/office/drawing/2014/main" id="{030AB39B-0624-477A-A27B-C4340BA5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9595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13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Used only when the certified snapshot lacks evidence for a material variance. Queries are logged, permissioned, and reviewed by FP&amp;A/data owners before becoming reusable logic.</a:t>
            </a:r>
          </a:p>
        </p:txBody>
      </p:sp>
      <p:sp>
        <p:nvSpPr>
          <p:cNvPr id="57" name="Left-Right Arrow 56">
            <a:extLst xmlns:a="http://schemas.openxmlformats.org/drawingml/2006/main">
              <a:ext uri="{FF2B5EF4-FFF2-40B4-BE49-F238E27FC236}">
                <a16:creationId xmlns:a16="http://schemas.microsoft.com/office/drawing/2014/main" id="{810EBEA6-39BC-4F86-B538-D03E6DC1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220" y="5638800"/>
            <a:ext cx="781050" cy="32385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E4E9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36D3ABAE-5BF9-4C9E-A91C-95166299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1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71ED28B5-8A45-4A12-AF63-9E0D1DE1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685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Snowflake is not the original source of truth; it is the governed access layer where source data becomes finance-ready views.</a:t>
            </a:r>
          </a:p>
        </p:txBody>
      </p:sp>
      <p:sp>
        <p:nvSpPr>
          <p:cNvPr id="60" name="Rectangle 59">
            <a:extLst xmlns:a="http://schemas.openxmlformats.org/drawingml/2006/main">
              <a:ext uri="{FF2B5EF4-FFF2-40B4-BE49-F238E27FC236}">
                <a16:creationId xmlns:a16="http://schemas.microsoft.com/office/drawing/2014/main" id="{507BE6BF-CB98-488D-BEAD-2EFA7EF6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24613"/>
            <a:ext cx="3733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Anaplan may be queried directly or landed in Snowflake depending on enterprise data architecture.</a:t>
            </a:r>
          </a:p>
        </p:txBody>
      </p:sp>
    </p:spTree>
    <p:extLst>
      <p:ext uri="{BB962C8B-B14F-4D97-AF65-F5344CB8AC3E}">
        <p14:creationId xmlns:p14="http://schemas.microsoft.com/office/powerpoint/2010/main" val="5019789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DE9126-CF53-4DE0-94D6-E955A3DB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76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Continuation from slide 2: certified inputs to agentic outputs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B831B-1A2E-4DB6-AECE-A6E43638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09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This slide starts with the variance engine input created by Snowflake finance views, then follows one clean path through the analysis engine, LLM agent, UI/tool, and outward deliverables.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42154-1904-4207-A237-05217F04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667000" cy="400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1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6BBE8-04EE-4BF5-9C7E-233C8235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809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Starts where slide 2 ends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31149-D97E-4A18-91F2-3BC16924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438275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Variance engine input package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87A83-FC81-47B8-904F-EF1EA549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619250" cy="1657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E9EE"/>
          </a:solidFill>
          <a:ln xmlns:a="http://schemas.openxmlformats.org/drawingml/2006/main" w="9525">
            <a:solidFill>
              <a:srgbClr val="DDE3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73569-97AC-4FCE-B022-C42E5DB8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A5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E03F1-0E92-4978-88A0-131DD375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33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B2432-295C-4B07-B904-2F76A068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295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Variance engine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9AD20-4E38-4DE2-913E-BF68DF72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295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Control totals, snapshots, actuals, planning baselines, mappings, taxonomy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91B9A-BE66-4241-B99F-978A3E4E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86050"/>
            <a:ext cx="4000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CE5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29B14-7CC6-4612-97DD-AF494701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19300"/>
            <a:ext cx="1619250" cy="1657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DDE3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6A204-E046-4F4F-B09B-E9FEE5F3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51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1DEDB-F0D5-4172-81CD-2061484A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133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94934-F2B3-425A-9B33-B57AD04D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86050"/>
            <a:ext cx="1295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Deterministic variance 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89833-67AF-4CB6-A94B-38984666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05150"/>
            <a:ext cx="1295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Calculate bridge, classify drivers, reconcile, expose residuals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03F85-A1BB-4107-A932-C24C9724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4000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CE5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B84AA-DE00-43ED-BBA6-B0CDC51E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19300"/>
            <a:ext cx="1619250" cy="1657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CDA94-1C2E-4E75-850A-42F11845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85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07818-8EA0-4A3E-A618-59B63256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33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A26A9-E3A0-4B41-B064-E68874B5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1295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Certified analysis packet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9E5EB-AC23-4F0A-851C-BECF6CF3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05150"/>
            <a:ext cx="1295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Driver amounts, source evidence, confidence, assumptions, open questions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71698C-B672-47F6-A528-D0F2BABD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86050"/>
            <a:ext cx="4000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CE5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5B7CA8-7DD3-4AB3-A2CD-DE85F9A1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19300"/>
            <a:ext cx="1619250" cy="1657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DE3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0E129-C198-4EF0-8D95-AC2D65E0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90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12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27D901-2BC0-4469-98A3-95E77A30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38375"/>
            <a:ext cx="133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69BEE8-8600-45FF-B9AE-C70D1051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86050"/>
            <a:ext cx="1295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LLM 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3F0F85-D590-4F8F-A74E-889C1A75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05150"/>
            <a:ext cx="1295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Uses SKILL.md operating manual plus taxonomy to explain certified facts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62097A-168B-49AC-A744-D6C573BE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86050"/>
            <a:ext cx="4000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CE5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1950B4-E897-4685-B2E4-D9B4B2E9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19300"/>
            <a:ext cx="1619250" cy="1657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DE3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EE381C-9A69-4BD8-85F8-50EB37F7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90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D1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A1F7C2-6391-450B-A383-EF052A80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133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1BD135-DF7B-403A-B431-B2018AF9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86050"/>
            <a:ext cx="1295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Tool / UI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47B3D9-5027-422E-B4A6-20579246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05150"/>
            <a:ext cx="1295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Current prototype: Claude Artifact-style app; production: internal workflow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8582A6-5AA5-4DF1-A49F-6C9BF995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719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Outward outputs from the tool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65FABA-0706-40AB-9A5D-6112C7EB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733800"/>
            <a:ext cx="26670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5DCE5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C9B67C-0C72-40D6-B47C-55BCCE22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2190750" cy="704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E1756D-5081-46A3-BF76-2294755D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958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D1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B705FD-A15B-4577-9FA6-AFF243E4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05350"/>
            <a:ext cx="1790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FP&amp;A review workspace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442D14-A5FC-4A51-8962-EE109340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339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Analyst reviews evidence, edits narrative, approves final output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29C464-0864-4217-B8FD-1BCA8BD4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72000"/>
            <a:ext cx="2190750" cy="704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E1312D-8222-4F67-808D-5760B0B3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958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514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453AD6-2FDF-4949-9244-35780D2A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705350"/>
            <a:ext cx="1790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Export .pptx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CFF73C-13F0-4E20-9E81-9534C458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339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Presentation agent maps approved analysis to standard finance template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0D8784-F9BA-4DF2-B589-42ED1707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72000"/>
            <a:ext cx="2190750" cy="704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9DFE44-528C-4738-AD0C-73DAE06E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958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5B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65E848-8B6E-4CD1-B460-B0B0A0E4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05350"/>
            <a:ext cx="1790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Eval output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AEFFA5-D801-4F59-A03E-56B00DBD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39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JSON + narrative compared to FP&amp;A ground truth for scoring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192944-1B47-4F09-A1A0-289BAC8E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57850"/>
            <a:ext cx="55054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DE6EF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578C4C-F087-4A63-B851-E4F147D0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753100"/>
            <a:ext cx="685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Eval feedback improves deterministic rules, governed taxonomy, SKILL.md, prompt guardrails, and PowerPoint templates.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F8E2F6-DF23-4A8F-99E3-3FC7C25A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1D8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512F0C-4909-4C0F-9BA1-82F48F3C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212F"/>
                </a:solidFill>
                <a:latin typeface="Arial"/>
                <a:ea typeface="Arial"/>
                <a:cs typeface="Arial"/>
              </a:defRPr>
            </a:pPr>
            <a:r>
              <a:t>Key correction: the agent output is downstream of the LLM/tool, while the certified packet is what feeds the LLM.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27108F-6DA4-480F-8BCB-1695004A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57950"/>
            <a:ext cx="3714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A78"/>
                </a:solidFill>
                <a:latin typeface="Arial"/>
                <a:ea typeface="Arial"/>
                <a:cs typeface="Arial"/>
              </a:defRPr>
            </a:pPr>
            <a:r>
              <a:t>The agent does not replace financial controls; it turns controlled analysis into review-ready deliverables.</a:t>
            </a:r>
          </a:p>
        </p:txBody>
      </p:sp>
    </p:spTree>
    <p:extLst>
      <p:ext uri="{BB962C8B-B14F-4D97-AF65-F5344CB8AC3E}">
        <p14:creationId xmlns:p14="http://schemas.microsoft.com/office/powerpoint/2010/main" val="6042833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2026-06-08T06:52:36.7340000Z</dcterms:created>
  <dcterms:modified xsi:type="dcterms:W3CDTF">2026-06-08T06:52:36.7340000Z</dcterms:modified>
</coreProperties>
</file>